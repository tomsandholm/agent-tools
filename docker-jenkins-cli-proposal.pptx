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E6B8A"/>
                </a:solidFill>
                <a:latin typeface="Calibri"/>
              </a:rPr>
              <a:t>PROPOSAL  ·  AGENT-TOOLS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B3A4B"/>
                </a:solidFill>
                <a:latin typeface="Calibri"/>
              </a:rPr>
              <a:t>Turn-key Jenkins from the command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4688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A6772"/>
                </a:solidFill>
                <a:latin typeface="Calibri"/>
              </a:rPr>
              <a:t>Run Jenkins as a Docker controller, keep all state on volumes, and drive the entire lifecycle from one Makefile: build, start, upgrade, plugins, backup, and teardown.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520440"/>
            <a:ext cx="2697480" cy="123444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B3A4B"/>
                </a:solidFill>
                <a:latin typeface="Calibri"/>
              </a:rPr>
              <a:t>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772"/>
                </a:solidFill>
                <a:latin typeface="Calibri"/>
              </a:rPr>
              <a:t>custom-jenkins-docker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3520440"/>
            <a:ext cx="2697480" cy="123444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36118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B3A4B"/>
                </a:solidFill>
                <a:latin typeface="Calibri"/>
              </a:rPr>
              <a:t>Volume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41148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772"/>
                </a:solidFill>
                <a:latin typeface="Calibri"/>
              </a:rPr>
              <a:t>jobs, plugins, config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3520440"/>
            <a:ext cx="2697480" cy="123444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6118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B3A4B"/>
                </a:solidFill>
                <a:latin typeface="Calibri"/>
              </a:rPr>
              <a:t>Makefile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1148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772"/>
                </a:solidFill>
                <a:latin typeface="Calibri"/>
              </a:rPr>
              <a:t>the operator CLI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3520440"/>
            <a:ext cx="2697480" cy="123444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36118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B3A4B"/>
                </a:solidFill>
                <a:latin typeface="Calibri"/>
              </a:rPr>
              <a:t>Backup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41148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772"/>
                </a:solidFill>
                <a:latin typeface="Calibri"/>
              </a:rPr>
              <a:t>full jenkins_home copy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983480"/>
            <a:ext cx="11155680" cy="105156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0749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The product is the command catalog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4406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Operators do not click through a controller to keep Jenkins healthy. They run make targets against a named container, jenkins-controller.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agent-tools  ·  Docker Jenkins CLI proposal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656832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E6B8A"/>
                </a:solidFill>
                <a:latin typeface="Calibri"/>
              </a:rPr>
              <a:t>01 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B3A4B"/>
                </a:solidFill>
                <a:latin typeface="Calibri"/>
              </a:rPr>
              <a:t>Host-installed Jenkins is a snowflake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A6772"/>
                </a:solidFill>
                <a:latin typeface="Calibri"/>
              </a:rPr>
              <a:t>A traditional Jenkins host mixes OS packages, plugin drift, and ad-hoc backups. Upgrades become events. This proposal treats Jenkins as disposable compute plus durable state.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828800"/>
          <a:ext cx="112471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7162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Today</a:t>
                      </a:r>
                    </a:p>
                  </a:txBody>
                  <a:tcPr anchor="ctr">
                    <a:solidFill>
                      <a:srgbClr val="1B3A4B"/>
                    </a:solidFill>
                    <a:marL val="73152"/>
                    <a:marR val="73152"/>
                    <a:marT val="73152"/>
                    <a:marB val="73152"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With Docker Jenkins</a:t>
                      </a:r>
                    </a:p>
                  </a:txBody>
                  <a:tcPr anchor="ctr">
                    <a:solidFill>
                      <a:srgbClr val="1B3A4B"/>
                    </a:solidFill>
                    <a:marL val="73152"/>
                    <a:marR val="73152"/>
                    <a:marT val="73152"/>
                    <a:marB val="73152"/>
                  </a:tcPr>
                </a:tc>
              </a:tr>
              <a:tr h="71628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Upgrade means touching a long-lived host</a:t>
                      </a:r>
                    </a:p>
                  </a:txBody>
                  <a:tcPr anchor="ctr">
                    <a:solidFill>
                      <a:srgbClr val="FFFFFF"/>
                    </a:solidFill>
                    <a:marL val="73152"/>
                    <a:marR val="73152"/>
                    <a:marT val="73152"/>
                    <a:marB val="73152"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Rebuild the image; restart the container</a:t>
                      </a:r>
                    </a:p>
                  </a:txBody>
                  <a:tcPr anchor="ctr">
                    <a:solidFill>
                      <a:srgbClr val="FFFFFF"/>
                    </a:solidFill>
                    <a:marL val="73152"/>
                    <a:marR val="73152"/>
                    <a:marT val="73152"/>
                    <a:marB val="73152"/>
                  </a:tcPr>
                </a:tc>
              </a:tr>
              <a:tr h="71628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Plugin set lives only on that machine</a:t>
                      </a:r>
                    </a:p>
                  </a:txBody>
                  <a:tcPr anchor="ctr">
                    <a:solidFill>
                      <a:srgbClr val="F4F7F9"/>
                    </a:solidFill>
                    <a:marL val="73152"/>
                    <a:marR val="73152"/>
                    <a:marT val="73152"/>
                    <a:marB val="73152"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Declared in plugins.txt; updated via CLI</a:t>
                      </a:r>
                    </a:p>
                  </a:txBody>
                  <a:tcPr anchor="ctr">
                    <a:solidFill>
                      <a:srgbClr val="F4F7F9"/>
                    </a:solidFill>
                    <a:marL val="73152"/>
                    <a:marR val="73152"/>
                    <a:marT val="73152"/>
                    <a:marB val="73152"/>
                  </a:tcPr>
                </a:tc>
              </a:tr>
              <a:tr h="71628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Jobs and config tied to the OS install</a:t>
                      </a:r>
                    </a:p>
                  </a:txBody>
                  <a:tcPr anchor="ctr">
                    <a:solidFill>
                      <a:srgbClr val="FFFFFF"/>
                    </a:solidFill>
                    <a:marL val="73152"/>
                    <a:marR val="73152"/>
                    <a:marT val="73152"/>
                    <a:marB val="73152"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Persisted on NFS or a named Docker volume</a:t>
                      </a:r>
                    </a:p>
                  </a:txBody>
                  <a:tcPr anchor="ctr">
                    <a:solidFill>
                      <a:srgbClr val="FFFFFF"/>
                    </a:solidFill>
                    <a:marL val="73152"/>
                    <a:marR val="73152"/>
                    <a:marT val="73152"/>
                    <a:marB val="73152"/>
                  </a:tcPr>
                </a:tc>
              </a:tr>
              <a:tr h="71628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Backups are optional and informal</a:t>
                      </a:r>
                    </a:p>
                  </a:txBody>
                  <a:tcPr anchor="ctr">
                    <a:solidFill>
                      <a:srgbClr val="F4F7F9"/>
                    </a:solidFill>
                    <a:marL val="73152"/>
                    <a:marR val="73152"/>
                    <a:marT val="73152"/>
                    <a:marB val="73152"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make jenkins-bulk-backup copies the whole home</a:t>
                      </a:r>
                    </a:p>
                  </a:txBody>
                  <a:tcPr anchor="ctr">
                    <a:solidFill>
                      <a:srgbClr val="F4F7F9"/>
                    </a:solidFill>
                    <a:marL val="73152"/>
                    <a:marR val="73152"/>
                    <a:marT val="73152"/>
                    <a:marB val="73152"/>
                  </a:tcPr>
                </a:tc>
              </a:tr>
              <a:tr h="71628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Lifecycle is tribal knowledge</a:t>
                      </a:r>
                    </a:p>
                  </a:txBody>
                  <a:tcPr anchor="ctr">
                    <a:solidFill>
                      <a:srgbClr val="FFFFFF"/>
                    </a:solidFill>
                    <a:marL val="73152"/>
                    <a:marR val="73152"/>
                    <a:marT val="73152"/>
                    <a:marB val="73152"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Makefile is the runbook</a:t>
                      </a:r>
                    </a:p>
                  </a:txBody>
                  <a:tcPr anchor="ctr">
                    <a:solidFill>
                      <a:srgbClr val="FFFFFF"/>
                    </a:solidFill>
                    <a:marL val="73152"/>
                    <a:marR val="73152"/>
                    <a:marT val="73152"/>
                    <a:marB val="73152"/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agent-tools  ·  Docker Jenkins CLI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656832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E6B8A"/>
                </a:solidFill>
                <a:latin typeface="Calibri"/>
              </a:rPr>
              <a:t>02  THE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B3A4B"/>
                </a:solidFill>
                <a:latin typeface="Calibri"/>
              </a:rPr>
              <a:t>Three parts. One operating model.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611880" cy="3977639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611880" cy="109728"/>
          </a:xfrm>
          <a:prstGeom prst="rect">
            <a:avLst/>
          </a:prstGeom>
          <a:solidFill>
            <a:srgbClr val="2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6B8A"/>
                </a:solidFill>
                <a:latin typeface="Calibri"/>
              </a:rPr>
              <a:t>DISPOSABLE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B3A4B"/>
                </a:solidFill>
                <a:latin typeface="Calibri"/>
              </a:rPr>
              <a:t>Docker controller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custom-jenkins-docker from jenkins/jenkins:lts-jdk21, with Docker CLI and a pinned plugin list baked in. Rebuild to upgrade the platform.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280160"/>
            <a:ext cx="3611880" cy="3977639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3611880" cy="109728"/>
          </a:xfrm>
          <a:prstGeom prst="rect">
            <a:avLst/>
          </a:prstGeom>
          <a:solidFill>
            <a:srgbClr val="2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508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6B8A"/>
                </a:solidFill>
                <a:latin typeface="Calibri"/>
              </a:rPr>
              <a:t>DURABLE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B3A4B"/>
                </a:solidFill>
                <a:latin typeface="Calibri"/>
              </a:rPr>
              <a:t>Volumes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37744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/var/jenkins_home is never in the image. Production binds /srv/nfs_share. Plugin-upgrade mode uses the named volume jenkins-vol.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280160"/>
            <a:ext cx="3611880" cy="3977639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280160"/>
            <a:ext cx="3611880" cy="109728"/>
          </a:xfrm>
          <a:prstGeom prst="rect">
            <a:avLst/>
          </a:prstGeom>
          <a:solidFill>
            <a:srgbClr val="2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508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6B8A"/>
                </a:solidFill>
                <a:latin typeface="Calibri"/>
              </a:rPr>
              <a:t>CLI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B3A4B"/>
                </a:solidFill>
                <a:latin typeface="Calibri"/>
              </a:rPr>
              <a:t>Makefile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37744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One file in docker/images/ orchestrates image builds, start and stop, plugin updates, shell access, and full backups.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4406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A6772"/>
                </a:solidFill>
                <a:latin typeface="Calibri"/>
              </a:rPr>
              <a:t>Multi-arch builder agents (builder-amd64, arm64v8, and others) are the same catalog — not a second ops story.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agent-tools  ·  Docker Jenkins CLI proposal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656832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E6B8A"/>
                </a:solidFill>
                <a:latin typeface="Calibri"/>
              </a:rPr>
              <a:t>03 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B3A4B"/>
                </a:solidFill>
                <a:latin typeface="Calibri"/>
              </a:rPr>
              <a:t>The container is cattle. The volume is the farm.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43000"/>
          <a:ext cx="1124712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5760720"/>
                <a:gridCol w="3566160"/>
              </a:tblGrid>
              <a:tr h="6126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anchor="ctr">
                    <a:solidFill>
                      <a:srgbClr val="1B3A4B"/>
                    </a:solidFill>
                    <a:marL val="73152"/>
                    <a:marR val="73152"/>
                    <a:marT val="73152"/>
                    <a:marB val="73152"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is</a:t>
                      </a:r>
                    </a:p>
                  </a:txBody>
                  <a:tcPr anchor="ctr">
                    <a:solidFill>
                      <a:srgbClr val="1B3A4B"/>
                    </a:solidFill>
                    <a:marL val="73152"/>
                    <a:marR val="73152"/>
                    <a:marT val="73152"/>
                    <a:marB val="73152"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survives a rebuild</a:t>
                      </a:r>
                    </a:p>
                  </a:txBody>
                  <a:tcPr anchor="ctr">
                    <a:solidFill>
                      <a:srgbClr val="1B3A4B"/>
                    </a:solidFill>
                    <a:marL val="73152"/>
                    <a:marR val="73152"/>
                    <a:marT val="73152"/>
                    <a:marB val="73152"/>
                  </a:tcPr>
                </a:tc>
              </a:tr>
              <a:tr h="6126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Image</a:t>
                      </a:r>
                    </a:p>
                  </a:txBody>
                  <a:tcPr anchor="ctr">
                    <a:solidFill>
                      <a:srgbClr val="FFFFFF"/>
                    </a:solidFill>
                    <a:marL val="73152"/>
                    <a:marR val="73152"/>
                    <a:marT val="73152"/>
                    <a:marB val="73152"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custom-jenkins-docker · LTS JDK 21 · plugins.txt</a:t>
                      </a:r>
                    </a:p>
                  </a:txBody>
                  <a:tcPr anchor="ctr">
                    <a:solidFill>
                      <a:srgbClr val="FFFFFF"/>
                    </a:solidFill>
                    <a:marL val="73152"/>
                    <a:marR val="73152"/>
                    <a:marT val="73152"/>
                    <a:marB val="73152"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Nothing. Recreate it on purpose.</a:t>
                      </a:r>
                    </a:p>
                  </a:txBody>
                  <a:tcPr anchor="ctr">
                    <a:solidFill>
                      <a:srgbClr val="FFFFFF"/>
                    </a:solidFill>
                    <a:marL val="73152"/>
                    <a:marR val="73152"/>
                    <a:marT val="73152"/>
                    <a:marB val="73152"/>
                  </a:tcPr>
                </a:tc>
              </a:tr>
              <a:tr h="6126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Container</a:t>
                      </a:r>
                    </a:p>
                  </a:txBody>
                  <a:tcPr anchor="ctr">
                    <a:solidFill>
                      <a:srgbClr val="F4F7F9"/>
                    </a:solidFill>
                    <a:marL val="73152"/>
                    <a:marR val="73152"/>
                    <a:marT val="73152"/>
                    <a:marB val="73152"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jenkins-controller · ports 8080 and 50000 · --restart=on-failure</a:t>
                      </a:r>
                    </a:p>
                  </a:txBody>
                  <a:tcPr anchor="ctr">
                    <a:solidFill>
                      <a:srgbClr val="F4F7F9"/>
                    </a:solidFill>
                    <a:marL val="73152"/>
                    <a:marR val="73152"/>
                    <a:marT val="73152"/>
                    <a:marB val="73152"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Nothing. Stop and rm, then start again.</a:t>
                      </a:r>
                    </a:p>
                  </a:txBody>
                  <a:tcPr anchor="ctr">
                    <a:solidFill>
                      <a:srgbClr val="F4F7F9"/>
                    </a:solidFill>
                    <a:marL val="73152"/>
                    <a:marR val="73152"/>
                    <a:marT val="73152"/>
                    <a:marB val="73152"/>
                  </a:tcPr>
                </a:tc>
              </a:tr>
              <a:tr h="6126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Volume</a:t>
                      </a:r>
                    </a:p>
                  </a:txBody>
                  <a:tcPr anchor="ctr">
                    <a:solidFill>
                      <a:srgbClr val="FFFFFF"/>
                    </a:solidFill>
                    <a:marL val="73152"/>
                    <a:marR val="73152"/>
                    <a:marT val="73152"/>
                    <a:marB val="73152"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/var/jenkins_home via NFS or jenkins-vol</a:t>
                      </a:r>
                    </a:p>
                  </a:txBody>
                  <a:tcPr anchor="ctr">
                    <a:solidFill>
                      <a:srgbClr val="FFFFFF"/>
                    </a:solidFill>
                    <a:marL val="73152"/>
                    <a:marR val="73152"/>
                    <a:marT val="73152"/>
                    <a:marB val="73152"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Jobs, credentials, plugin data, history.</a:t>
                      </a:r>
                    </a:p>
                  </a:txBody>
                  <a:tcPr anchor="ctr">
                    <a:solidFill>
                      <a:srgbClr val="FFFFFF"/>
                    </a:solidFill>
                    <a:marL val="73152"/>
                    <a:marR val="73152"/>
                    <a:marT val="73152"/>
                    <a:marB val="73152"/>
                  </a:tcPr>
                </a:tc>
              </a:tr>
              <a:tr h="6126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Host socket</a:t>
                      </a:r>
                    </a:p>
                  </a:txBody>
                  <a:tcPr anchor="ctr">
                    <a:solidFill>
                      <a:srgbClr val="F4F7F9"/>
                    </a:solidFill>
                    <a:marL val="73152"/>
                    <a:marR val="73152"/>
                    <a:marT val="73152"/>
                    <a:marB val="73152"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/var/run/docker.sock mounted into the controller</a:t>
                      </a:r>
                    </a:p>
                  </a:txBody>
                  <a:tcPr anchor="ctr">
                    <a:solidFill>
                      <a:srgbClr val="F4F7F9"/>
                    </a:solidFill>
                    <a:marL val="73152"/>
                    <a:marR val="73152"/>
                    <a:marT val="73152"/>
                    <a:marB val="73152"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Lets pipelines talk to Docker on the host.</a:t>
                      </a:r>
                    </a:p>
                  </a:txBody>
                  <a:tcPr anchor="ctr">
                    <a:solidFill>
                      <a:srgbClr val="F4F7F9"/>
                    </a:solidFill>
                    <a:marL val="73152"/>
                    <a:marR val="73152"/>
                    <a:marT val="73152"/>
                    <a:marB val="73152"/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389120"/>
            <a:ext cx="11247120" cy="1691640"/>
          </a:xfrm>
          <a:prstGeom prst="rect">
            <a:avLst/>
          </a:prstGeom>
          <a:solidFill>
            <a:srgbClr val="122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526280"/>
            <a:ext cx="10881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make jenkins-start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# docker run …  -v /var/run/docker.sock:/var/run/docker.sock  \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#   -v /srv/nfs_share:/var/jenkins_home  -p 8080:8080 -p 50000:50000  \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#   --restart=on-failure custom-jenkins-docker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agent-tools  ·  Docker Jenkins CLI proposal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656832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E6B8A"/>
                </a:solidFill>
                <a:latin typeface="Calibri"/>
              </a:rPr>
              <a:t>04  PERSISTENCE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B3A4B"/>
                </a:solidFill>
                <a:latin typeface="Calibri"/>
              </a:rPr>
              <a:t>Two volume modes, one Jenkins home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5486400" cy="489204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B3A4B"/>
                </a:solidFill>
                <a:latin typeface="Calibri"/>
              </a:rPr>
              <a:t>Production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make jenkins-start bind-mounts the NFS share at /srv/nfs_share onto /var/jenkins_home. Jobs and configuration live off-box, so the controller can move or be rebuilt without losing the instance.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29768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A6772"/>
                </a:solidFill>
                <a:latin typeface="Calibri"/>
              </a:rPr>
              <a:t>Optional helper: make-nfs-docker-volume creates a Docker NFS volume pointed at the same share.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234440"/>
            <a:ext cx="5532120" cy="489204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B3A4B"/>
                </a:solidFill>
                <a:latin typeface="Calibri"/>
              </a:rPr>
              <a:t>Forced plugin upgrade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5074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make jenkins-start-plugin-upgrade uses the named volume jenkins-vol and sets PLUGINS_FORCE_UPGRADE=true. Same lifecycle targets, different persistence backend for upgrade windows.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4114800"/>
            <a:ext cx="5074920" cy="1691640"/>
          </a:xfrm>
          <a:prstGeom prst="rect">
            <a:avLst/>
          </a:prstGeom>
          <a:solidFill>
            <a:srgbClr val="FB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4251960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B3A4B"/>
                </a:solidFill>
                <a:latin typeface="Calibri"/>
              </a:rPr>
              <a:t>Image vs home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617720"/>
            <a:ext cx="4709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New images omit unsupported Blue Ocean plugins. Existing homes still need Script Console cleanup, then a restart.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agent-tools  ·  Docker Jenkins CLI proposal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656832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E6B8A"/>
                </a:solidFill>
                <a:latin typeface="Calibri"/>
              </a:rPr>
              <a:t>05  THE CLI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B3A4B"/>
                </a:solidFill>
                <a:latin typeface="Calibri"/>
              </a:rPr>
              <a:t>The Makefile is the turn-key control plane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A6772"/>
                </a:solidFill>
                <a:latin typeface="Calibri"/>
              </a:rPr>
              <a:t>Operators do not need a second dashboard. These targets are the runbook.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572000"/>
                <a:gridCol w="4114800"/>
              </a:tblGrid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Need</a:t>
                      </a:r>
                    </a:p>
                  </a:txBody>
                  <a:tcPr anchor="ctr">
                    <a:solidFill>
                      <a:srgbClr val="1B3A4B"/>
                    </a:solidFill>
                    <a:marL val="73152"/>
                    <a:marR val="73152"/>
                    <a:marT val="73152"/>
                    <a:marB val="73152"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Command</a:t>
                      </a:r>
                    </a:p>
                  </a:txBody>
                  <a:tcPr anchor="ctr">
                    <a:solidFill>
                      <a:srgbClr val="1B3A4B"/>
                    </a:solidFill>
                    <a:marL val="73152"/>
                    <a:marR val="73152"/>
                    <a:marT val="73152"/>
                    <a:marB val="73152"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happens</a:t>
                      </a:r>
                    </a:p>
                  </a:txBody>
                  <a:tcPr anchor="ctr">
                    <a:solidFill>
                      <a:srgbClr val="1B3A4B"/>
                    </a:solidFill>
                    <a:marL val="73152"/>
                    <a:marR val="73152"/>
                    <a:marT val="73152"/>
                    <a:marB val="73152"/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Build controller</a:t>
                      </a:r>
                    </a:p>
                  </a:txBody>
                  <a:tcPr anchor="ctr">
                    <a:solidFill>
                      <a:srgbClr val="FFFFFF"/>
                    </a:solidFill>
                    <a:marL val="73152"/>
                    <a:marR val="73152"/>
                    <a:marT val="73152"/>
                    <a:marB val="73152"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make custom-jenkins-docker</a:t>
                      </a:r>
                    </a:p>
                  </a:txBody>
                  <a:tcPr anchor="ctr">
                    <a:solidFill>
                      <a:srgbClr val="FFFFFF"/>
                    </a:solidFill>
                    <a:marL val="73152"/>
                    <a:marR val="73152"/>
                    <a:marT val="73152"/>
                    <a:marB val="73152"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Image from jendock/</a:t>
                      </a:r>
                    </a:p>
                  </a:txBody>
                  <a:tcPr anchor="ctr">
                    <a:solidFill>
                      <a:srgbClr val="FFFFFF"/>
                    </a:solidFill>
                    <a:marL val="73152"/>
                    <a:marR val="73152"/>
                    <a:marT val="73152"/>
                    <a:marB val="73152"/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Run</a:t>
                      </a:r>
                    </a:p>
                  </a:txBody>
                  <a:tcPr anchor="ctr">
                    <a:solidFill>
                      <a:srgbClr val="F4F7F9"/>
                    </a:solidFill>
                    <a:marL val="73152"/>
                    <a:marR val="73152"/>
                    <a:marT val="73152"/>
                    <a:marB val="73152"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make jenkins-start</a:t>
                      </a:r>
                    </a:p>
                  </a:txBody>
                  <a:tcPr anchor="ctr">
                    <a:solidFill>
                      <a:srgbClr val="F4F7F9"/>
                    </a:solidFill>
                    <a:marL val="73152"/>
                    <a:marR val="73152"/>
                    <a:marT val="73152"/>
                    <a:marB val="73152"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Detached controller + NFS home</a:t>
                      </a:r>
                    </a:p>
                  </a:txBody>
                  <a:tcPr anchor="ctr">
                    <a:solidFill>
                      <a:srgbClr val="F4F7F9"/>
                    </a:solidFill>
                    <a:marL val="73152"/>
                    <a:marR val="73152"/>
                    <a:marT val="73152"/>
                    <a:marB val="73152"/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Stop</a:t>
                      </a:r>
                    </a:p>
                  </a:txBody>
                  <a:tcPr anchor="ctr">
                    <a:solidFill>
                      <a:srgbClr val="FFFFFF"/>
                    </a:solidFill>
                    <a:marL val="73152"/>
                    <a:marR val="73152"/>
                    <a:marT val="73152"/>
                    <a:marB val="73152"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make jenkins-stop</a:t>
                      </a:r>
                    </a:p>
                  </a:txBody>
                  <a:tcPr anchor="ctr">
                    <a:solidFill>
                      <a:srgbClr val="FFFFFF"/>
                    </a:solidFill>
                    <a:marL val="73152"/>
                    <a:marR val="73152"/>
                    <a:marT val="73152"/>
                    <a:marB val="73152"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docker stop and rm</a:t>
                      </a:r>
                    </a:p>
                  </a:txBody>
                  <a:tcPr anchor="ctr">
                    <a:solidFill>
                      <a:srgbClr val="FFFFFF"/>
                    </a:solidFill>
                    <a:marL val="73152"/>
                    <a:marR val="73152"/>
                    <a:marT val="73152"/>
                    <a:marB val="73152"/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Drop image</a:t>
                      </a:r>
                    </a:p>
                  </a:txBody>
                  <a:tcPr anchor="ctr">
                    <a:solidFill>
                      <a:srgbClr val="F4F7F9"/>
                    </a:solidFill>
                    <a:marL val="73152"/>
                    <a:marR val="73152"/>
                    <a:marT val="73152"/>
                    <a:marB val="73152"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make jenkins-delete</a:t>
                      </a:r>
                    </a:p>
                  </a:txBody>
                  <a:tcPr anchor="ctr">
                    <a:solidFill>
                      <a:srgbClr val="F4F7F9"/>
                    </a:solidFill>
                    <a:marL val="73152"/>
                    <a:marR val="73152"/>
                    <a:marT val="73152"/>
                    <a:marB val="73152"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Remove custom-jenkins-docker</a:t>
                      </a:r>
                    </a:p>
                  </a:txBody>
                  <a:tcPr anchor="ctr">
                    <a:solidFill>
                      <a:srgbClr val="F4F7F9"/>
                    </a:solidFill>
                    <a:marL val="73152"/>
                    <a:marR val="73152"/>
                    <a:marT val="73152"/>
                    <a:marB val="73152"/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Upgrade plugins</a:t>
                      </a:r>
                    </a:p>
                  </a:txBody>
                  <a:tcPr anchor="ctr">
                    <a:solidFill>
                      <a:srgbClr val="FFFFFF"/>
                    </a:solidFill>
                    <a:marL val="73152"/>
                    <a:marR val="73152"/>
                    <a:marT val="73152"/>
                    <a:marB val="73152"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make jenkins-update-plugins</a:t>
                      </a:r>
                    </a:p>
                  </a:txBody>
                  <a:tcPr anchor="ctr">
                    <a:solidFill>
                      <a:srgbClr val="FFFFFF"/>
                    </a:solidFill>
                    <a:marL val="73152"/>
                    <a:marR val="73152"/>
                    <a:marT val="73152"/>
                    <a:marB val="73152"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CLI install + safe-restart</a:t>
                      </a:r>
                    </a:p>
                  </a:txBody>
                  <a:tcPr anchor="ctr">
                    <a:solidFill>
                      <a:srgbClr val="FFFFFF"/>
                    </a:solidFill>
                    <a:marL val="73152"/>
                    <a:marR val="73152"/>
                    <a:marT val="73152"/>
                    <a:marB val="73152"/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Force plugin mode</a:t>
                      </a:r>
                    </a:p>
                  </a:txBody>
                  <a:tcPr anchor="ctr">
                    <a:solidFill>
                      <a:srgbClr val="F4F7F9"/>
                    </a:solidFill>
                    <a:marL val="73152"/>
                    <a:marR val="73152"/>
                    <a:marT val="73152"/>
                    <a:marB val="73152"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make jenkins-start-plugin-upgrade</a:t>
                      </a:r>
                    </a:p>
                  </a:txBody>
                  <a:tcPr anchor="ctr">
                    <a:solidFill>
                      <a:srgbClr val="F4F7F9"/>
                    </a:solidFill>
                    <a:marL val="73152"/>
                    <a:marR val="73152"/>
                    <a:marT val="73152"/>
                    <a:marB val="73152"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Named volume + env flag</a:t>
                      </a:r>
                    </a:p>
                  </a:txBody>
                  <a:tcPr anchor="ctr">
                    <a:solidFill>
                      <a:srgbClr val="F4F7F9"/>
                    </a:solidFill>
                    <a:marL val="73152"/>
                    <a:marR val="73152"/>
                    <a:marT val="73152"/>
                    <a:marB val="73152"/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Full backup</a:t>
                      </a:r>
                    </a:p>
                  </a:txBody>
                  <a:tcPr anchor="ctr">
                    <a:solidFill>
                      <a:srgbClr val="FFFFFF"/>
                    </a:solidFill>
                    <a:marL val="73152"/>
                    <a:marR val="73152"/>
                    <a:marT val="73152"/>
                    <a:marB val="73152"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make jenkins-bulk-backup</a:t>
                      </a:r>
                    </a:p>
                  </a:txBody>
                  <a:tcPr anchor="ctr">
                    <a:solidFill>
                      <a:srgbClr val="FFFFFF"/>
                    </a:solidFill>
                    <a:marL val="73152"/>
                    <a:marR val="73152"/>
                    <a:marT val="73152"/>
                    <a:marB val="73152"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Copy /var/jenkins_home</a:t>
                      </a:r>
                    </a:p>
                  </a:txBody>
                  <a:tcPr anchor="ctr">
                    <a:solidFill>
                      <a:srgbClr val="FFFFFF"/>
                    </a:solidFill>
                    <a:marL val="73152"/>
                    <a:marR val="73152"/>
                    <a:marT val="73152"/>
                    <a:marB val="73152"/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Inspect</a:t>
                      </a:r>
                    </a:p>
                  </a:txBody>
                  <a:tcPr anchor="ctr">
                    <a:solidFill>
                      <a:srgbClr val="F4F7F9"/>
                    </a:solidFill>
                    <a:marL val="73152"/>
                    <a:marR val="73152"/>
                    <a:marT val="73152"/>
                    <a:marB val="73152"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make jenkins-shell / -root</a:t>
                      </a:r>
                    </a:p>
                  </a:txBody>
                  <a:tcPr anchor="ctr">
                    <a:solidFill>
                      <a:srgbClr val="F4F7F9"/>
                    </a:solidFill>
                    <a:marL val="73152"/>
                    <a:marR val="73152"/>
                    <a:marT val="73152"/>
                    <a:marB val="73152"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Exec into the container</a:t>
                      </a:r>
                    </a:p>
                  </a:txBody>
                  <a:tcPr anchor="ctr">
                    <a:solidFill>
                      <a:srgbClr val="F4F7F9"/>
                    </a:solidFill>
                    <a:marL val="73152"/>
                    <a:marR val="73152"/>
                    <a:marT val="73152"/>
                    <a:marB val="73152"/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agent-tools  ·  Docker Jenkins CLI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656832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E6B8A"/>
                </a:solidFill>
                <a:latin typeface="Calibri"/>
              </a:rPr>
              <a:t>06  DAY-2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B3A4B"/>
                </a:solidFill>
                <a:latin typeface="Calibri"/>
              </a:rPr>
              <a:t>Upgrades, plugins, and full backups are first-class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5669280" cy="489204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B3A4B"/>
                </a:solidFill>
                <a:latin typeface="Calibri"/>
              </a:rPr>
              <a:t>Plugin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The image installs from plugins.txt at build time. On a running controller, jenkins-get-cli fetches jenkins-cli.jar, jenkins-list-plugins audits the set, and jenkins-update-plugins installs pending updates then safe-restart.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Unsupported Blue Ocean plugins are removed with script-console-delete-blueocean-groovy in Manage Jenkins → Script Console.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234440"/>
            <a:ext cx="5349240" cy="489204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B3A4B"/>
                </a:solidFill>
                <a:latin typeface="Calibri"/>
              </a:rPr>
              <a:t>Full backup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920240"/>
            <a:ext cx="4937760" cy="2011680"/>
          </a:xfrm>
          <a:prstGeom prst="rect">
            <a:avLst/>
          </a:prstGeom>
          <a:solidFill>
            <a:srgbClr val="122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201168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make jenkins-bulk-backup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# mkdir /tmp/jenkins-full-backup/&lt;timestamp&gt;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# docker cp jenkins-controller:/var/jenkins_home \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#   /tmp/jenkins-full-backup/&lt;timestamp&gt;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11480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Timestamped directory. Whole home: jobs, plugins, secrets, history. Pair this with image rebuilds so you can roll forward or back.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agent-tools  ·  Docker Jenkins CLI proposal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656832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E6B8A"/>
                </a:solidFill>
                <a:latin typeface="Calibri"/>
              </a:rPr>
              <a:t>07  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B3A4B"/>
                </a:solidFill>
                <a:latin typeface="Calibri"/>
              </a:rPr>
              <a:t>Adopt the Makefile as how we run Jenkins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This is not a new Jenkins product. It is a turn-key command-line management mechanism: Docker for the runtime, volumes for the instance, Make for every lifecycle action.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3611880" cy="132588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>
                <a:solidFill>
                  <a:srgbClr val="1B3A4B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A6772"/>
                </a:solidFill>
                <a:latin typeface="Calibri"/>
              </a:rPr>
              <a:t>Makefile to learn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2103120"/>
            <a:ext cx="3611880" cy="132588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19456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>
                <a:solidFill>
                  <a:srgbClr val="1B3A4B"/>
                </a:solidFill>
                <a:latin typeface="Calibri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8346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A6772"/>
                </a:solidFill>
                <a:latin typeface="Calibri"/>
              </a:rPr>
              <a:t>Host package upgrades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2103120"/>
            <a:ext cx="3611880" cy="132588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19456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>
                <a:solidFill>
                  <a:srgbClr val="1B3A4B"/>
                </a:solidFill>
                <a:latin typeface="Calibri"/>
              </a:rPr>
              <a:t>Full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8346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A6772"/>
                </a:solidFill>
                <a:latin typeface="Calibri"/>
              </a:rPr>
              <a:t>jenkins_home backups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03320"/>
            <a:ext cx="11247120" cy="233172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840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Standard operating sequence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976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make custom-jenkins-docker  →  make jenkins-start  →  make jenkins-bulk-backup before change  →  make jenkins-update-plugins or rebuild the image  →  make jenkins-stop / make jenkins-start to roll the container.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4864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C5D4DE"/>
                </a:solidFill>
                <a:latin typeface="Calibri"/>
              </a:rPr>
              <a:t>Source of truth: docker/images/Makefile in agent-tools. Image definition: docker/images/jendock/.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agent-tools  ·  Docker Jenkins CLI proposal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656832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